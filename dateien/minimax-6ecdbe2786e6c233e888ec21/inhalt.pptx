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carportberlin.blogspot.com/2026/10/carport-mit-abstellraum-was-zahlt-zur.html" TargetMode="External"/><Relationship Id="rId3" Type="http://schemas.openxmlformats.org/officeDocument/2006/relationships/hyperlink" Target="https://holzundhaus.github.io/holzcarportberlin/dateien/minimax-6ecdbe2786e6c233e888ec2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mit Abstellraum: Was zählt zur Brutto-Grundfläche in Berlin? · Erklärende Präsentation</a:t>
            </a:r>
          </a:p>
        </p:txBody>
      </p:sp>
      <p:sp>
        <p:nvSpPr>
          <p:cNvPr id="3" name="Content Placeholder 2"/>
          <p:cNvSpPr>
            <a:spLocks noGrp="1"/>
          </p:cNvSpPr>
          <p:nvPr>
            <p:ph idx="1"/>
          </p:nvPr>
        </p:nvSpPr>
        <p:spPr/>
        <p:txBody>
          <a:bodyPr/>
          <a:lstStyle/>
          <a:p>
            <a:r>
              <a:t>Überblick: Ein Holzcarport mit angeschlossenem Abstellraum wirkt schnell wie eine kleine, geschlossene Einheit. Für die planungsrechtliche Einordnung in Berlin kommt es jedoch nicht allein auf die Stellfläche an: Entscheidend ist die gesamte überdachte Fläche, die als Brutto-Grundfläche behandelt wird. Der folgende Leitfaden zeigt, wie bei der Flächenberechnung vorgegangen werden sollte und welche weiteren Prüfungen vor der Umsetzung wichtig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Brutto-Grundfläche umfasst mehr als den offenen Stellplatz</a:t>
            </a:r>
          </a:p>
        </p:txBody>
      </p:sp>
      <p:sp>
        <p:nvSpPr>
          <p:cNvPr id="3" name="Content Placeholder 2"/>
          <p:cNvSpPr>
            <a:spLocks noGrp="1"/>
          </p:cNvSpPr>
          <p:nvPr>
            <p:ph idx="1"/>
          </p:nvPr>
        </p:nvSpPr>
        <p:spPr/>
        <p:txBody>
          <a:bodyPr/>
          <a:lstStyle/>
          <a:p>
            <a:pPr>
              <a:defRPr sz="1800"/>
            </a:pPr>
            <a:r>
              <a:t>Bei einem Carport mit Abstellraum wird die Fläche nicht nur nach der tatsächlich vom Fahrzeug eingenommenen Stellfläche beurteilt. Nach § 61 Absatz 1 Nummer 1 Buchstabe b BauO Bln sind Garagen und überdachte Stellplätze einschließlich ihrer Abstellräume grundsätzlich verfahrensfrei, wenn die mittlere Wandhöhe bis zu 3 m und die Brutto-Grundfläche bis zu 50 m² betragen. Beide Voraussetzungen müssen zusammen erfüllt sein. Der angeschlossene oder integrierte Abstellraum gehört deshalb in die Flächenberechnung ein. Auch vollüberdachte Bereiche, die nicht als Stellplatz genutzt werden, können bei der Ermittlung der überdachten Gesamtfläche berücks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Brutto-Grundfläche umfasst mehr als den offenen Stellplatz</a:t>
            </a:r>
          </a:p>
        </p:txBody>
      </p:sp>
      <p:sp>
        <p:nvSpPr>
          <p:cNvPr id="3" name="Content Placeholder 2"/>
          <p:cNvSpPr>
            <a:spLocks noGrp="1"/>
          </p:cNvSpPr>
          <p:nvPr>
            <p:ph idx="1"/>
          </p:nvPr>
        </p:nvSpPr>
        <p:spPr/>
        <p:txBody>
          <a:bodyPr/>
          <a:lstStyle/>
          <a:p>
            <a:pPr>
              <a:defRPr sz="1800"/>
            </a:pPr>
            <a:r>
              <a:t>ichtigt werden. Dachüberstände zählen nach dem Wortlaut der Regelung nicht zur Brutto-Grundfläche, müssen aber bei der Prüfung an der Grundstücksgrenze nach § 6 BauO Bln berücksichtigt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entsteht eine realistische Flächenermittlung</a:t>
            </a:r>
          </a:p>
        </p:txBody>
      </p:sp>
      <p:sp>
        <p:nvSpPr>
          <p:cNvPr id="3" name="Content Placeholder 2"/>
          <p:cNvSpPr>
            <a:spLocks noGrp="1"/>
          </p:cNvSpPr>
          <p:nvPr>
            <p:ph idx="1"/>
          </p:nvPr>
        </p:nvSpPr>
        <p:spPr/>
        <p:txBody>
          <a:bodyPr/>
          <a:lstStyle/>
          <a:p>
            <a:pPr>
              <a:defRPr sz="1800"/>
            </a:pPr>
            <a:r>
              <a:t>Die Summe sollte bereits vor dem Aufstellen anhand der geplanten Maße ermittelt werden. Ein Einzelcarport mit 3 m Breite und 6 m Länge ergibt 18 m² überdachte Fläche. Kommt ein Abstellraum von 2,5 m × 3 m hinzu, liegen die Flächen bei insgesamt 25,5 m². Ein Doppelcarport mit 6 m × 6 m kommt auf 36 m². Ein seitlicher Abstellraum von 3 m × 3 m erhöht diesen Wert auf 45 m². Erst zusätzliche Überdachungen, ein größerer Geräteraum oder ein erweiterter Stellplatz können die 50-m²-Grenze überschreiten. Wichtig ist daher, nicht nur den geplanten Carport, sondern die gesamte bauliche Anordnung zu betrachten. Dachneigung, Dachüberstände und die tatsäch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entsteht eine realistische Flächenermittlung</a:t>
            </a:r>
          </a:p>
        </p:txBody>
      </p:sp>
      <p:sp>
        <p:nvSpPr>
          <p:cNvPr id="3" name="Content Placeholder 2"/>
          <p:cNvSpPr>
            <a:spLocks noGrp="1"/>
          </p:cNvSpPr>
          <p:nvPr>
            <p:ph idx="1"/>
          </p:nvPr>
        </p:nvSpPr>
        <p:spPr/>
        <p:txBody>
          <a:bodyPr/>
          <a:lstStyle/>
          <a:p>
            <a:pPr>
              <a:defRPr sz="1800"/>
            </a:pPr>
            <a:r>
              <a:t>liche Konstruktion sollten dokumentiert werden, damit die Berechnung nachvollziehbar bleibt.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 ist nicht gleich vollständig zulässig</a:t>
            </a:r>
          </a:p>
        </p:txBody>
      </p:sp>
      <p:sp>
        <p:nvSpPr>
          <p:cNvPr id="3" name="Content Placeholder 2"/>
          <p:cNvSpPr>
            <a:spLocks noGrp="1"/>
          </p:cNvSpPr>
          <p:nvPr>
            <p:ph idx="1"/>
          </p:nvPr>
        </p:nvSpPr>
        <p:spPr/>
        <p:txBody>
          <a:bodyPr/>
          <a:lstStyle/>
          <a:p>
            <a:pPr>
              <a:defRPr sz="1800"/>
            </a:pPr>
            <a:r>
              <a:t>Die 50-m²-Grenze allein beantwortet nicht alle Fragen. Auch verfahrensfreie Vorhaben müssen die öffentlich-rechtlichen Vorschriften einhalten. Dazu gehören nach § 59 Absatz 2 BauO Bln insbesondere Abstandsflächen und Grenzbebauung nach § 6 BauO Bln, die Standsicherheit nach § 12 BauO Bln sowie Festsetzungen eines Bebauungsplans. Auch mögliche denkmalrechtliche Anforderungen können eine Rolle spielen. Bei der Planung sollte deshalb erfasst werden, welche Gebäude bereits an der Grundstücksgrenze stehen und ob die 15-m-Grenze nach § 6 BauO Bln kumulativ wirkt. Die vorgesehene Nutzung des Abstellraums ist ein weiterer eigener Prüfpunkt: Je nach 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 ist nicht gleich vollständig zulässig</a:t>
            </a:r>
          </a:p>
        </p:txBody>
      </p:sp>
      <p:sp>
        <p:nvSpPr>
          <p:cNvPr id="3" name="Content Placeholder 2"/>
          <p:cNvSpPr>
            <a:spLocks noGrp="1"/>
          </p:cNvSpPr>
          <p:nvPr>
            <p:ph idx="1"/>
          </p:nvPr>
        </p:nvSpPr>
        <p:spPr/>
        <p:txBody>
          <a:bodyPr/>
          <a:lstStyle/>
          <a:p>
            <a:pPr>
              <a:defRPr sz="1800"/>
            </a:pPr>
            <a:r>
              <a:t>agerung können Brandschutz und planungsrechtliche Einordnung relevant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Bauaufsicht</a:t>
            </a:r>
          </a:p>
        </p:txBody>
      </p:sp>
      <p:sp>
        <p:nvSpPr>
          <p:cNvPr id="3" name="Content Placeholder 2"/>
          <p:cNvSpPr>
            <a:spLocks noGrp="1"/>
          </p:cNvSpPr>
          <p:nvPr>
            <p:ph idx="1"/>
          </p:nvPr>
        </p:nvSpPr>
        <p:spPr/>
        <p:txBody>
          <a:bodyPr/>
          <a:lstStyle/>
          <a:p>
            <a:pPr>
              <a:defRPr sz="1800"/>
            </a:pPr>
            <a:r>
              <a:t>Für eine gezielte Anfrage bei der zuständigen Berliner Bauaufsicht hilft eine vollständige Planunterlage. Dazu gehören die überdachte Gesamtfläche einschließlich Abstellraum, die mittlere Wandhöhe, die Lage des Carports im Grundstück, vorhandene Grenzbebauung sowie Angaben zu Dachneigung und Dachüberständen. Ergänzend sollten Bebauungsplan und eventuelle Auflagen des Denkmalschutzes eingesehen werden. Eine allgemeine Onlineauskunft ersetzt diese Prüfung nicht. Wer diese Angaben bereits vor der Bestellung oder dem Aufbau zusammenstellt, kann offene Fragen frühzeitig klären und vermeiden, dass sich die Fläche durch nachträgliche Erweiterungen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Bauaufsicht</a:t>
            </a:r>
          </a:p>
        </p:txBody>
      </p:sp>
      <p:sp>
        <p:nvSpPr>
          <p:cNvPr id="3" name="Content Placeholder 2"/>
          <p:cNvSpPr>
            <a:spLocks noGrp="1"/>
          </p:cNvSpPr>
          <p:nvPr>
            <p:ph idx="1"/>
          </p:nvPr>
        </p:nvSpPr>
        <p:spPr/>
        <p:txBody>
          <a:bodyPr/>
          <a:lstStyle/>
          <a:p>
            <a:pPr>
              <a:defRPr sz="1800"/>
            </a:pPr>
            <a:r>
              <a:t>achteilig verändert. Ergänzende technische Hinweise finden sich im Ratgeber zur Baugenehmigung in Berlin.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Flächenplanung und technische Ausführung verbinden</a:t>
            </a:r>
          </a:p>
        </p:txBody>
      </p:sp>
      <p:sp>
        <p:nvSpPr>
          <p:cNvPr id="3" name="Content Placeholder 2"/>
          <p:cNvSpPr>
            <a:spLocks noGrp="1"/>
          </p:cNvSpPr>
          <p:nvPr>
            <p:ph idx="1"/>
          </p:nvPr>
        </p:nvSpPr>
        <p:spPr/>
        <p:txBody>
          <a:bodyPr/>
          <a:lstStyle/>
          <a:p>
            <a:pPr>
              <a:defRPr sz="1800"/>
            </a:pPr>
            <a:r>
              <a:t>Die Brutto-Grundfläche ist nicht nur eine rechtliche Kennzahl. Sie beeinflusst auch die Planung von Fundament, Verankerung und Dachneigung, weil diese Maßnahmen zur konkreten Bauwerksgröße passen müssen. Bei der Ausarbeitung eines Entwurfs empfiehlt sich deshalb ein gemeinsamer Blick auf Flächen, Stabilität, Grenzabstände und Nutzung. Ein weiteres häufiges Thema ist die Regenwasserführung: Der passende Beitrag zur Regenwasserführung von Carport und Terrassenüberdachung zeigt, welche Angaben in einer Anfrage an die Bauaufsicht oder an die zuständige Stelle weiterhelfen können. So entsteht aus der zunächst einfachen Flächenfrage eine vollständi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Flächenplanung und technische Ausführung verbinden</a:t>
            </a:r>
          </a:p>
        </p:txBody>
      </p:sp>
      <p:sp>
        <p:nvSpPr>
          <p:cNvPr id="3" name="Content Placeholder 2"/>
          <p:cNvSpPr>
            <a:spLocks noGrp="1"/>
          </p:cNvSpPr>
          <p:nvPr>
            <p:ph idx="1"/>
          </p:nvPr>
        </p:nvSpPr>
        <p:spPr/>
        <p:txBody>
          <a:bodyPr/>
          <a:lstStyle/>
          <a:p>
            <a:pPr>
              <a:defRPr sz="1800"/>
            </a:pPr>
            <a:r>
              <a:t>ge, realistische Planungsgrundlage für das Vorhaben.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mit Abstellraum: Was zählt zur Brutto-Grundfläche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