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carportberlin/holzcarport-angebot-leistungen-vergleichen-berlin/" TargetMode="External"/><Relationship Id="rId3" Type="http://schemas.openxmlformats.org/officeDocument/2006/relationships/hyperlink" Target="https://holzundhaus.github.io/holzcarportberlin/dateien/minimax-a79e288ef2895f9dd126200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Holzcarport-Angebot prüfen: Welche Leistungen in Berlin enthalten sein müssen · Erklärende Präsentation</a:t>
            </a:r>
          </a:p>
        </p:txBody>
      </p:sp>
      <p:sp>
        <p:nvSpPr>
          <p:cNvPr id="3" name="Content Placeholder 2"/>
          <p:cNvSpPr>
            <a:spLocks noGrp="1"/>
          </p:cNvSpPr>
          <p:nvPr>
            <p:ph idx="1"/>
          </p:nvPr>
        </p:nvSpPr>
        <p:spPr/>
        <p:txBody>
          <a:bodyPr/>
          <a:lstStyle/>
          <a:p>
            <a:r>
              <a:t>Überblick: Ein Holzcarport-Angebot wird erst dann vergleichbar, wenn nicht nur die Endsumme, sondern auch der vollständige Leistungsumfang betrachtet wird. Bausatz, montierter Bausatz und schlüsselfertig geplantes Bauvorhaben umfassen unterschiedliche Arbeiten. Besonders wichtig sind Untergrund, Fundament, Holzkonstruktion, Dach, Wasserführung und Montage. Die folgenden Hinweise zeigen, welche Angaben vor der Auftragsvergabe geprüft werden sollten und welche offenen Punkte bereits im Angebot geklärt werden müssen. Angebote für einen Holzcarport in Berlin vergleichen hilft dabei, zwischen tatsächlich enthaltenen Leistungen und späteren Nachträ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statt nur Endpreis vergleichen</a:t>
            </a:r>
          </a:p>
        </p:txBody>
      </p:sp>
      <p:sp>
        <p:nvSpPr>
          <p:cNvPr id="3" name="Content Placeholder 2"/>
          <p:cNvSpPr>
            <a:spLocks noGrp="1"/>
          </p:cNvSpPr>
          <p:nvPr>
            <p:ph idx="1"/>
          </p:nvPr>
        </p:nvSpPr>
        <p:spPr/>
        <p:txBody>
          <a:bodyPr/>
          <a:lstStyle/>
          <a:p>
            <a:pPr>
              <a:defRPr sz="1800"/>
            </a:pPr>
            <a:r>
              <a:t>Zwei Angebote können denselben Carport zeigen, dennoch unterschiedliche Arbeiten enthalten. Entscheidend ist deshalb die Frage, was vor Ort tatsächlich ausgeführt wird. Ein Angebot sollte Lieferung, Planung, Montage, Anfahrt, Kraneinsatz und Baustelleneinrichtung eindeutig benennen. Auch die Frage, wer Bodenarbeiten und die Anbindung an vorhandene Flächen übernimmt, muss beantwortet sein. Nicht geregelte Punkte verschwinden nicht automatisch, sondern erscheinen häufig als Zusatzposten. Wer Angebote für einen Holzcarport in Berlin vergleichen lässt, sollte jede Leistung einem klaren Verantwortlichen zuordnen und prüfen, ob Annahmen zum Grundst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statt nur Endpreis vergleichen</a:t>
            </a:r>
          </a:p>
        </p:txBody>
      </p:sp>
      <p:sp>
        <p:nvSpPr>
          <p:cNvPr id="3" name="Content Placeholder 2"/>
          <p:cNvSpPr>
            <a:spLocks noGrp="1"/>
          </p:cNvSpPr>
          <p:nvPr>
            <p:ph idx="1"/>
          </p:nvPr>
        </p:nvSpPr>
        <p:spPr/>
        <p:txBody>
          <a:bodyPr/>
          <a:lstStyle/>
          <a:p>
            <a:pPr>
              <a:defRPr sz="1800"/>
            </a:pPr>
            <a:r>
              <a:t>ück offen ausgewiesen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Fundament konkret prüfen</a:t>
            </a:r>
          </a:p>
        </p:txBody>
      </p:sp>
      <p:sp>
        <p:nvSpPr>
          <p:cNvPr id="3" name="Content Placeholder 2"/>
          <p:cNvSpPr>
            <a:spLocks noGrp="1"/>
          </p:cNvSpPr>
          <p:nvPr>
            <p:ph idx="1"/>
          </p:nvPr>
        </p:nvSpPr>
        <p:spPr/>
        <p:txBody>
          <a:bodyPr/>
          <a:lstStyle/>
          <a:p>
            <a:pPr>
              <a:defRPr sz="1800"/>
            </a:pPr>
            <a:r>
              <a:t>Die sichtbare Pflasterung allein sagt nicht aus, ob der Untergrund für den Carport geeignet ist. Zu klären sind die vorhandene Bodenart, Verdichtung, Höhenlage und die Art, wie Lasten aus Dach und Schnee in den Boden abgetragen werden. Im Angebot sollten die vorgesehene Fundamentart, der verwendete Pfostenträger und die Befestigung am Fundament benannt werden. Pauschale Formulierungen reichen hier nicht aus. Wichtig ist außerdem, ob Leistungen wie Aushub, Schotterung, Einschalen oder Betonarbeiten enthalten sind oder bauseits erbracht werden. Diese Angaben helfen nicht nur beim Preisvergleich, sondern auch bei der Einschätzung, ob das Angebot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Fundament konkret prüfen</a:t>
            </a:r>
          </a:p>
        </p:txBody>
      </p:sp>
      <p:sp>
        <p:nvSpPr>
          <p:cNvPr id="3" name="Content Placeholder 2"/>
          <p:cNvSpPr>
            <a:spLocks noGrp="1"/>
          </p:cNvSpPr>
          <p:nvPr>
            <p:ph idx="1"/>
          </p:nvPr>
        </p:nvSpPr>
        <p:spPr/>
        <p:txBody>
          <a:bodyPr/>
          <a:lstStyle/>
          <a:p>
            <a:pPr>
              <a:defRPr sz="1800"/>
            </a:pPr>
            <a:r>
              <a:t> zur tatsächlichen Grundstückssituation passt.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Dach und Wasserführung gemeinsam betrachten</a:t>
            </a:r>
          </a:p>
        </p:txBody>
      </p:sp>
      <p:sp>
        <p:nvSpPr>
          <p:cNvPr id="3" name="Content Placeholder 2"/>
          <p:cNvSpPr>
            <a:spLocks noGrp="1"/>
          </p:cNvSpPr>
          <p:nvPr>
            <p:ph idx="1"/>
          </p:nvPr>
        </p:nvSpPr>
        <p:spPr/>
        <p:txBody>
          <a:bodyPr/>
          <a:lstStyle/>
          <a:p>
            <a:pPr>
              <a:defRPr sz="1800"/>
            </a:pPr>
            <a:r>
              <a:t>Bei der Konstruktion genügt die Angabe „Holz“ nicht. Das Angebot sollte das konkrete Holzprodukt für die tragenden Bauteile nennen, etwa Konstruktionsvollholz oder Brettschichtholz, und die eingesetzte Holzart angeben. Auch Dachform, Dacheindeckung und Entwässerung gehören in dieselbe Prüfung. Für die Planung der Regenwasserführung ist insbesondere relevant, wohin das Wasser geleitet wird und ob die Lösung zur vorhandenen Situation auf dem Grundstück passt. Grundsätzlich sollte Regenwasser nicht ohne weitere Prüfung zum Nachbargrundstück abgeleitet werden. Weitere Hinweise zur Regenwasserplanung bei Carport und Terrassenüberdachung erleichter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Dach und Wasserführung gemeinsam betrachten</a:t>
            </a:r>
          </a:p>
        </p:txBody>
      </p:sp>
      <p:sp>
        <p:nvSpPr>
          <p:cNvPr id="3" name="Content Placeholder 2"/>
          <p:cNvSpPr>
            <a:spLocks noGrp="1"/>
          </p:cNvSpPr>
          <p:nvPr>
            <p:ph idx="1"/>
          </p:nvPr>
        </p:nvSpPr>
        <p:spPr/>
        <p:txBody>
          <a:bodyPr/>
          <a:lstStyle/>
          <a:p>
            <a:pPr>
              <a:defRPr sz="1800"/>
            </a:pPr>
            <a:r>
              <a:t>n die Suche nach einer konstruktiv passenden Lösung.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und Pflegeaufwand klären</a:t>
            </a:r>
          </a:p>
        </p:txBody>
      </p:sp>
      <p:sp>
        <p:nvSpPr>
          <p:cNvPr id="3" name="Content Placeholder 2"/>
          <p:cNvSpPr>
            <a:spLocks noGrp="1"/>
          </p:cNvSpPr>
          <p:nvPr>
            <p:ph idx="1"/>
          </p:nvPr>
        </p:nvSpPr>
        <p:spPr/>
        <p:txBody>
          <a:bodyPr/>
          <a:lstStyle/>
          <a:p>
            <a:pPr>
              <a:defRPr sz="1800"/>
            </a:pPr>
            <a:r>
              <a:t>Eine Oberflächenbehandlung kann werksseitig oder bauseitig erfolgen. Beide Varianten haben unterschiedliche Auswirkungen auf den Pflegeaufwand und sollten deshalb ausdrücklich im Angebot stehen. Neben dem Beschichtungssystem ist auch zu klären, welche Holzteile behandelt werden und ob konstruktive Schutzmaßnahmen vorgesehen sind. Dazu gehören Details, bei denen Feuchtigkeit ablaufen und Wasser nicht unnötig an besonders beanspruchten Stellen stehenbleiben kann. Ein Angebot, das weder Behandlung noch Zuständigkeit für regelmäßige Kontrollen beschreibt, lässt Spielraum für spätere Zusatzleistungen. Sinnvoll ist daher eine kurze, schriftliche 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und Pflegeaufwand klären</a:t>
            </a:r>
          </a:p>
        </p:txBody>
      </p:sp>
      <p:sp>
        <p:nvSpPr>
          <p:cNvPr id="3" name="Content Placeholder 2"/>
          <p:cNvSpPr>
            <a:spLocks noGrp="1"/>
          </p:cNvSpPr>
          <p:nvPr>
            <p:ph idx="1"/>
          </p:nvPr>
        </p:nvSpPr>
        <p:spPr/>
        <p:txBody>
          <a:bodyPr/>
          <a:lstStyle/>
          <a:p>
            <a:pPr>
              <a:defRPr sz="1800"/>
            </a:pPr>
            <a:r>
              <a:t>rstellung des vorgesehenen Holzschutzes und der erwarteten Pflege.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Nachweise und offene Fragen vor der Vergabe klären</a:t>
            </a:r>
          </a:p>
        </p:txBody>
      </p:sp>
      <p:sp>
        <p:nvSpPr>
          <p:cNvPr id="3" name="Content Placeholder 2"/>
          <p:cNvSpPr>
            <a:spLocks noGrp="1"/>
          </p:cNvSpPr>
          <p:nvPr>
            <p:ph idx="1"/>
          </p:nvPr>
        </p:nvSpPr>
        <p:spPr/>
        <p:txBody>
          <a:bodyPr/>
          <a:lstStyle/>
          <a:p>
            <a:pPr>
              <a:defRPr sz="1800"/>
            </a:pPr>
            <a:r>
              <a:t>Auch ein möglicherweise verfahrensfreier Carport ist nicht automatisch auf jedem Grundstück zulässig. Abstandsregeln, Festsetzungen im Bebauungsplan, Grenzbebauung und Standsicherheit können eine Rolle spielen. Im Angebot sollte deshalb feststehen, welche Nachweise erstellt werden, wer sie verantwortet und wer die baurechtliche Einordnung übernimmt. Ebenso wichtig sind Angaben zu Zufahrt, Kranstellflächen, Baustellenbedingungen und vorhandenen Leitungen oder Begrenzungen. Diese Informationen sollten vor der Auftragsvergabe vorliegen. So kann das Angebot nicht nur preislich, sondern auch hinsichtlich seiner Machbarkeit geprüft werden, ohne das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Nachweise und offene Fragen vor der Vergabe klären</a:t>
            </a:r>
          </a:p>
        </p:txBody>
      </p:sp>
      <p:sp>
        <p:nvSpPr>
          <p:cNvPr id="3" name="Content Placeholder 2"/>
          <p:cNvSpPr>
            <a:spLocks noGrp="1"/>
          </p:cNvSpPr>
          <p:nvPr>
            <p:ph idx="1"/>
          </p:nvPr>
        </p:nvSpPr>
        <p:spPr/>
        <p:txBody>
          <a:bodyPr/>
          <a:lstStyle/>
          <a:p>
            <a:pPr>
              <a:defRPr sz="1800"/>
            </a:pPr>
            <a:r>
              <a:t>s sich zentrale Klärungen in die Bauphase verschieben.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Holzcarport-Angebot prüfen: Welche Leistungen in Berlin enthalten sein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